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70432"/>
            <a:ext cx="1024128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ar-SA">
                <a:solidFill>
                  <a:srgbClr val="22D3EE"/>
                </a:solidFill>
                <a:latin typeface="Arial"/>
                <a:cs typeface="Arial"/>
                <a:ea typeface="Arial"/>
              </a:rPr>
              <a:t>DIGITAL FORENSIC INVESTIGATION  ·  INCIDENT RESPONSE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10241280" cy="13716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تحقيق جنائي رقمي في اختراق شبكي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وتسريب بيانات — شركة CITADEL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310128"/>
            <a:ext cx="4206240" cy="182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3611880"/>
            <a:ext cx="5532120" cy="1170432"/>
          </a:xfrm>
          <a:prstGeom prst="rect">
            <a:avLst/>
          </a:prstGeom>
          <a:solidFill>
            <a:srgbClr val="3A171D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3611880"/>
            <a:ext cx="54864" cy="117043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749039"/>
            <a:ext cx="512064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 i="0" lang="ar-SA">
                <a:solidFill>
                  <a:srgbClr val="F87171"/>
                </a:solidFill>
                <a:latin typeface="Arial"/>
                <a:cs typeface="Arial"/>
                <a:ea typeface="Arial"/>
              </a:rPr>
              <a:t>النتيجة: اختراق ناجح + تسريب بيانات مؤكَّد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الخطورة: عالية  ·  حالة الحادث: مؤكَّد  ·  الأصل خارجي ومقصود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5074920"/>
            <a:ext cx="2395728" cy="93268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1" y="5175504"/>
            <a:ext cx="210312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الجهاز الخاضع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lang="ar-SA">
                <a:solidFill>
                  <a:srgbClr val="22D3EE"/>
                </a:solidFill>
                <a:latin typeface="Consolas"/>
                <a:cs typeface="Consolas"/>
                <a:ea typeface="Consolas"/>
              </a:rPr>
              <a:t>CITADEL-DC01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10.42.85.10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3591" y="5074920"/>
            <a:ext cx="2395728" cy="93268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3" y="5175504"/>
            <a:ext cx="210312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محطة العمل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lang="ar-SA">
                <a:solidFill>
                  <a:srgbClr val="22D3EE"/>
                </a:solidFill>
                <a:latin typeface="Consolas"/>
                <a:cs typeface="Consolas"/>
                <a:ea typeface="Consolas"/>
              </a:rPr>
              <a:t>DESKTOP-SDN1RPT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10.42.85.115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3" y="5074920"/>
            <a:ext cx="2395728" cy="93268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5" y="5175504"/>
            <a:ext cx="210312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مصدر الهجوم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lang="ar-SA">
                <a:solidFill>
                  <a:srgbClr val="22D3EE"/>
                </a:solidFill>
                <a:latin typeface="Consolas"/>
                <a:cs typeface="Consolas"/>
                <a:ea typeface="Consolas"/>
              </a:rPr>
              <a:t>194.61.24.102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خارجي / معادي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77655" y="5074920"/>
            <a:ext cx="2395728" cy="93268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42247" y="5175504"/>
            <a:ext cx="210312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خادم القيادة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lang="ar-SA">
                <a:solidFill>
                  <a:srgbClr val="22D3EE"/>
                </a:solidFill>
                <a:latin typeface="Consolas"/>
                <a:cs typeface="Consolas"/>
                <a:ea typeface="Consolas"/>
              </a:rPr>
              <a:t>203.78.103.109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TCP 443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27648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CONFIDENTIAL — للاستخدام الداخلي فقط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6419088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CITADEL · IR-2024-001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50292" cy="6583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 lang="ar-SA">
                <a:solidFill>
                  <a:srgbClr val="22D3EE"/>
                </a:solidFill>
                <a:latin typeface="Arial"/>
                <a:cs typeface="Arial"/>
                <a:ea typeface="Arial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الملخص التنفيذي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02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2651760" cy="120700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265176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27632"/>
            <a:ext cx="228600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29,309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حزمة SYN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فيض اتصال ضد RDP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481328"/>
            <a:ext cx="2651760" cy="120700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481328"/>
            <a:ext cx="265176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627632"/>
            <a:ext cx="228600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 lang="ar-SA">
                <a:solidFill>
                  <a:srgbClr val="FBBF24"/>
                </a:solidFill>
                <a:latin typeface="Consolas"/>
                <a:cs typeface="Consolas"/>
                <a:ea typeface="Consolas"/>
              </a:rPr>
              <a:t>~10 MB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بيانات مُصرَّفة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خارج الشبكة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481328"/>
            <a:ext cx="2651760" cy="120700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481328"/>
            <a:ext cx="265176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627632"/>
            <a:ext cx="228600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 lang="ar-SA">
                <a:solidFill>
                  <a:srgbClr val="A78BFA"/>
                </a:solidFill>
                <a:latin typeface="Consolas"/>
                <a:cs typeface="Consolas"/>
                <a:ea typeface="Consolas"/>
              </a:rPr>
              <a:t>7,168 B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ملف خبيث واحد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coreupdater.exe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481328"/>
            <a:ext cx="2651760" cy="120700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481328"/>
            <a:ext cx="2651760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627632"/>
            <a:ext cx="228600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 lang="ar-SA">
                <a:solidFill>
                  <a:srgbClr val="34D399"/>
                </a:solidFill>
                <a:latin typeface="Consolas"/>
                <a:cs typeface="Consolas"/>
                <a:ea typeface="Consolas"/>
              </a:rPr>
              <a:t>99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رمز مكرّر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mstshash=Administrator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71216"/>
            <a:ext cx="5577840" cy="3291840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871216"/>
            <a:ext cx="5577840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017520"/>
            <a:ext cx="5175503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22D3EE"/>
                </a:solidFill>
                <a:latin typeface="Arial"/>
                <a:cs typeface="Arial"/>
                <a:ea typeface="Arial"/>
              </a:rPr>
              <a:t>ما الذي حدث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346704"/>
            <a:ext cx="5138928" cy="2743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•  استكشف المهاجم خدمة RDP عبر Nmap ثم نفّذ فيض اتصالات واسع (14,116 منفذ مصدر).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•  استخدم المهاجم الرمز mstshash=Administrator (99 تكراراً) في إنشاء جلسات RDP، وبلغ مرحلة TLS في جلسة امتدت 30 دقيقة.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•  جهّز الحمولة عبر خادم SimpleHTTP/0.6 (Python 2.7.18) على المنفذ 80، ونشرها على الخادم ومحطة العمل.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•  استخرج المهاجم نحو 10 ميغابايت من البيانات عبر tcp.stream 30442 ثم تواصل مع C2 على المنفذ 443.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•  الملف الخبيث مضغوط ويحمل طابعاً زمنياً مزيفاً من 2010 — أسلوب كلاسيكي لإخفاء تاريخ التجميع الحقيقي.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871216"/>
            <a:ext cx="5312664" cy="3291840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871216"/>
            <a:ext cx="5312664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017520"/>
            <a:ext cx="4910327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النطاق والأدوات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3346704"/>
            <a:ext cx="4873752" cy="2743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الأدلة: </a:t>
            </a: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PCAP واحد + صورة قرص + صورة ذاكرة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الشبكة: </a:t>
            </a: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Wireshark · tshark · Zeek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القرص/الذاكرة: </a:t>
            </a: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Volatility 3 · FTK Imager · Timesketch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تحليل الملفات: </a:t>
            </a: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capa · strings · محلل PE ثابت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نطاق التوقيت: </a:t>
            </a: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02:15 – 03:05 UTC (نافذة الهجوم)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852160"/>
            <a:ext cx="11055096" cy="365760"/>
          </a:xfrm>
          <a:prstGeom prst="rect">
            <a:avLst/>
          </a:prstGeom>
          <a:solidFill>
            <a:srgbClr val="2A1E1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592531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ar-SA">
                <a:solidFill>
                  <a:srgbClr val="FBBF24"/>
                </a:solidFill>
                <a:latin typeface="Arial"/>
                <a:cs typeface="Arial"/>
                <a:ea typeface="Arial"/>
              </a:rPr>
              <a:t>القيود: </a:t>
            </a:r>
            <a:r>
              <a:rPr sz="11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جلسة RDP/TLS مشفّرة، لذا لا يمكن من الـ PCAP وحده إثبات أسماء الملفات المُسرَبة أو تنفيذ الحمولة على النظراء.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27648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CONFIDENTIAL — للاستخدام الداخلي فقط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419088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CITADEL · IR-2024-001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50292" cy="65836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ATTACK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سلسلة الهجوم — الجدول الزمني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03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46120"/>
            <a:ext cx="10607040" cy="20116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9156" y="317845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1393" y="2971800"/>
            <a:ext cx="10972" cy="274319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4776" y="1490472"/>
            <a:ext cx="1664208" cy="148132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4776" y="1490472"/>
            <a:ext cx="1664208" cy="274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2792" y="1609343"/>
            <a:ext cx="1408176" cy="12984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ar-SA">
                <a:solidFill>
                  <a:srgbClr val="22D3EE"/>
                </a:solidFill>
                <a:latin typeface="Consolas"/>
                <a:cs typeface="Consolas"/>
                <a:ea typeface="Consolas"/>
              </a:rPr>
              <a:t>02:15 UTC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الاستطلاع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Nmap RDP scan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mstshash=nmap</a:t>
            </a:r>
          </a:p>
        </p:txBody>
      </p:sp>
      <p:sp>
        <p:nvSpPr>
          <p:cNvPr id="14" name="Oval 13"/>
          <p:cNvSpPr/>
          <p:nvPr/>
        </p:nvSpPr>
        <p:spPr>
          <a:xfrm>
            <a:off x="3396996" y="3178454"/>
            <a:ext cx="155448" cy="15544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69233" y="3337560"/>
            <a:ext cx="10972" cy="182880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42615" y="3520439"/>
            <a:ext cx="1664208" cy="148132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42615" y="3520439"/>
            <a:ext cx="1664208" cy="2743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0632" y="3639311"/>
            <a:ext cx="1408176" cy="12984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02:18 UTC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فيض الاتصال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29,309 SYN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29,308 RST</a:t>
            </a:r>
          </a:p>
        </p:txBody>
      </p:sp>
      <p:sp>
        <p:nvSpPr>
          <p:cNvPr id="19" name="Oval 18"/>
          <p:cNvSpPr/>
          <p:nvPr/>
        </p:nvSpPr>
        <p:spPr>
          <a:xfrm>
            <a:off x="5164836" y="3178454"/>
            <a:ext cx="155448" cy="15544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37073" y="2971800"/>
            <a:ext cx="10972" cy="274319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10456" y="1490472"/>
            <a:ext cx="1664208" cy="148132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0456" y="1490472"/>
            <a:ext cx="1664208" cy="2743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8472" y="1609343"/>
            <a:ext cx="1408176" cy="12984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ar-SA">
                <a:solidFill>
                  <a:srgbClr val="FBBF24"/>
                </a:solidFill>
                <a:latin typeface="Consolas"/>
                <a:cs typeface="Consolas"/>
                <a:ea typeface="Consolas"/>
              </a:rPr>
              <a:t>02:22 UTC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المصادقة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99 فشل ثم نجاح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Administrator</a:t>
            </a:r>
          </a:p>
        </p:txBody>
      </p:sp>
      <p:sp>
        <p:nvSpPr>
          <p:cNvPr id="24" name="Oval 23"/>
          <p:cNvSpPr/>
          <p:nvPr/>
        </p:nvSpPr>
        <p:spPr>
          <a:xfrm>
            <a:off x="6932676" y="3178454"/>
            <a:ext cx="155448" cy="15544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04913" y="3337560"/>
            <a:ext cx="10972" cy="182880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8296" y="3520439"/>
            <a:ext cx="1664208" cy="148132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8296" y="3520439"/>
            <a:ext cx="1664208" cy="274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6312" y="3639311"/>
            <a:ext cx="1408176" cy="12984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ar-SA">
                <a:solidFill>
                  <a:srgbClr val="A78BFA"/>
                </a:solidFill>
                <a:latin typeface="Consolas"/>
                <a:cs typeface="Consolas"/>
                <a:ea typeface="Consolas"/>
              </a:rPr>
              <a:t>02:31 UTC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التسليم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تنزيل coreupdater.exe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DC + محطة العمل</a:t>
            </a:r>
          </a:p>
        </p:txBody>
      </p:sp>
      <p:sp>
        <p:nvSpPr>
          <p:cNvPr id="29" name="Oval 28"/>
          <p:cNvSpPr/>
          <p:nvPr/>
        </p:nvSpPr>
        <p:spPr>
          <a:xfrm>
            <a:off x="8700515" y="3178454"/>
            <a:ext cx="155448" cy="155448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2753" y="2971800"/>
            <a:ext cx="10972" cy="274319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46136" y="1490472"/>
            <a:ext cx="1664208" cy="148132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46136" y="1490472"/>
            <a:ext cx="1664208" cy="2743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4152" y="1609343"/>
            <a:ext cx="1408176" cy="12984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02:40 UTC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القيادة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C2 ‏203.78.103.109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بروتوكول مخصص</a:t>
            </a:r>
          </a:p>
        </p:txBody>
      </p:sp>
      <p:sp>
        <p:nvSpPr>
          <p:cNvPr id="34" name="Oval 33"/>
          <p:cNvSpPr/>
          <p:nvPr/>
        </p:nvSpPr>
        <p:spPr>
          <a:xfrm>
            <a:off x="10468356" y="3178454"/>
            <a:ext cx="155448" cy="1554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40593" y="3337560"/>
            <a:ext cx="10972" cy="182880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13976" y="3520439"/>
            <a:ext cx="1664208" cy="1481328"/>
          </a:xfrm>
          <a:prstGeom prst="rect">
            <a:avLst/>
          </a:prstGeom>
          <a:solidFill>
            <a:srgbClr val="203450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13976" y="3520439"/>
            <a:ext cx="1664208" cy="2743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41992" y="3639311"/>
            <a:ext cx="1408176" cy="12984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ar-SA">
                <a:solidFill>
                  <a:srgbClr val="34D399"/>
                </a:solidFill>
                <a:latin typeface="Consolas"/>
                <a:cs typeface="Consolas"/>
                <a:ea typeface="Consolas"/>
              </a:rPr>
              <a:t>02:52 UTC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التسريب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tcp.stream 30442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~10 MB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577840"/>
            <a:ext cx="11055096" cy="566928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66928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ar-SA">
                <a:solidFill>
                  <a:srgbClr val="22D3EE"/>
                </a:solidFill>
                <a:latin typeface="Arial"/>
                <a:cs typeface="Arial"/>
                <a:ea typeface="Arial"/>
              </a:rPr>
              <a:t>ملاحظة التوقيت: </a:t>
            </a: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نافذة الهجوم في الـ PCAP بالـ UTC هي 02:15–03:05، بينما تُعرض بعض أحداث RDP بالتوقيت المحلي +03 (05:22:36 ← 05:52:47). الفارق ثابت ومعروف.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327648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المصدر: </a:t>
            </a: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tcp.stream 30442 · frames 339455 / 339465 / 232938–232948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6419088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CITADEL · IR-2024-001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50292" cy="65836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 lang="ar-SA">
                <a:solidFill>
                  <a:srgbClr val="F87171"/>
                </a:solidFill>
                <a:latin typeface="Arial"/>
                <a:cs typeface="Arial"/>
                <a:ea typeface="Arial"/>
              </a:rPr>
              <a:t>INITIAL ACCESS &amp;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المرحلة 1–2: الوصول الأولي والمصادقة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04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5486400" cy="2212848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5486400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09344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22D3EE"/>
                </a:solidFill>
                <a:latin typeface="Arial"/>
                <a:cs typeface="Arial"/>
                <a:ea typeface="Arial"/>
              </a:rPr>
              <a:t>الاستطلاع وتعداد الخدمات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5047488" cy="1645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 lang="ar-SA">
                <a:solidFill>
                  <a:srgbClr val="22D3EE"/>
                </a:solidFill>
                <a:latin typeface="Arial"/>
                <a:cs typeface="Arial"/>
                <a:ea typeface="Arial"/>
              </a:rPr>
              <a:t>الأداة: </a:t>
            </a:r>
            <a:r>
              <a:rPr sz="12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Nmap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 lang="ar-SA">
                <a:solidFill>
                  <a:srgbClr val="22D3EE"/>
                </a:solidFill>
                <a:latin typeface="Arial"/>
                <a:cs typeface="Arial"/>
                <a:ea typeface="Arial"/>
              </a:rPr>
              <a:t>البصمة: </a:t>
            </a:r>
            <a:r>
              <a:rPr sz="12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mstshash=nmap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 lang="ar-SA">
                <a:solidFill>
                  <a:srgbClr val="22D3EE"/>
                </a:solidFill>
                <a:latin typeface="Arial"/>
                <a:cs typeface="Arial"/>
                <a:ea typeface="Arial"/>
              </a:rPr>
              <a:t>التكرار: </a:t>
            </a: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طلب فريد واحد — ليس مسحاً تفصيلياً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1463040"/>
            <a:ext cx="5486400" cy="2212848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5624" y="1463040"/>
            <a:ext cx="548640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609344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بصمة المهاجم (JA3 / JA4)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38528"/>
            <a:ext cx="5047488" cy="1645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JA3: </a:t>
            </a:r>
            <a:r>
              <a:rPr sz="115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75fe51990656df4f7a249d5b86aa29ae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JA4_r: </a:t>
            </a: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تم تسجيله في الحزمة نفسها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بصمة TLS للعميل المهاجم — تدل على عميل RDP قياسي، ولا تثبت وحدها محاولات تخمين الحساب.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767328"/>
            <a:ext cx="5486400" cy="2395728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767328"/>
            <a:ext cx="548640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913632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F87171"/>
                </a:solidFill>
                <a:latin typeface="Arial"/>
                <a:cs typeface="Arial"/>
                <a:ea typeface="Arial"/>
              </a:rPr>
              <a:t>فيض الاتصال لا المسح (T1498.001)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242816"/>
            <a:ext cx="5047488" cy="1828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SYN / SYN-ACK: </a:t>
            </a:r>
            <a:r>
              <a:rPr sz="12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29,309 / 29,309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RST: </a:t>
            </a:r>
            <a:r>
              <a:rPr sz="12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29,308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منافذ مصدر مختلفة: </a:t>
            </a:r>
            <a:r>
              <a:rPr sz="12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14,116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ar-SA">
                <a:solidFill>
                  <a:srgbClr val="FBBF24"/>
                </a:solidFill>
                <a:latin typeface="Arial"/>
                <a:cs typeface="Arial"/>
                <a:ea typeface="Arial"/>
              </a:rPr>
              <a:t>الاستنتاج: فيض اتصال (Direct Network Flood) — لا ينطبق عليه تصنيف Active Scanning/T1595.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3767328"/>
            <a:ext cx="5486400" cy="2395728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35624" y="3767328"/>
            <a:ext cx="5486400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913632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المصادقة والجلسة الناجحة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42816"/>
            <a:ext cx="5047488" cy="1828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المستخدم: </a:t>
            </a:r>
            <a:r>
              <a:rPr sz="12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Administrator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تكرار الرمز: </a:t>
            </a:r>
            <a:r>
              <a:rPr sz="12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99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نتيجة: </a:t>
            </a: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RDP Negotiation + TLS ClientHello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المدة: </a:t>
            </a:r>
            <a:r>
              <a:rPr sz="12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05:22:36 → 05:52:47 (+03)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5705856"/>
            <a:ext cx="5047488" cy="402336"/>
          </a:xfrm>
          <a:prstGeom prst="rect">
            <a:avLst/>
          </a:prstGeom>
          <a:solidFill>
            <a:srgbClr val="102C24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5779008"/>
            <a:ext cx="4828032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الأثر: </a:t>
            </a:r>
            <a:r>
              <a:rPr sz="10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المصادقة النهائية تتم داخل القناة المشفّرة — الشبكة تُثبت بلوغ مرحلة TLS لا أكثر.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27648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المصدر: </a:t>
            </a: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frames 232938–232948 · ip.addr==194.61.24.102 · tcp.port==3389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6419088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CITADEL · IR-2024-001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50292" cy="65836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DELIVERY &amp; ATTACKER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المرحلة 3–4: تسليم الحمولة والبنية التحتية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05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5486400" cy="1874519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548640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09344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FBBF24"/>
                </a:solidFill>
                <a:latin typeface="Arial"/>
                <a:cs typeface="Arial"/>
                <a:ea typeface="Arial"/>
              </a:rPr>
              <a:t>خادم التجهيز (Staging)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5047488" cy="13258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FBBF24"/>
                </a:solidFill>
                <a:latin typeface="Arial"/>
                <a:cs typeface="Arial"/>
                <a:ea typeface="Arial"/>
              </a:rPr>
              <a:t>العنوان: </a:t>
            </a:r>
            <a:r>
              <a:rPr sz="1200" b="1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194.61.24.102:80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FBBF24"/>
                </a:solidFill>
                <a:latin typeface="Arial"/>
                <a:cs typeface="Arial"/>
                <a:ea typeface="Arial"/>
              </a:rPr>
              <a:t>الخدمة: </a:t>
            </a:r>
            <a:r>
              <a:rPr sz="12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SimpleHTTP/0.6 Python/2.7.18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استعراض GET / كشف فهرسته الكاملة بما فيها coreupdater.exe — مؤشّر على تحضير متعمّد قبل الاستهداف.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1463040"/>
            <a:ext cx="5486400" cy="1874519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5624" y="1463040"/>
            <a:ext cx="5486400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609344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الانتشار على الأجهزة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38528"/>
            <a:ext cx="5047488" cy="13258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10.42.85.10 </a:t>
            </a: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— خادم النطاق (DC)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10.42.85.115 </a:t>
            </a:r>
            <a:r>
              <a:rPr sz="12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— محطة العمل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الدليل: </a:t>
            </a:r>
            <a:r>
              <a:rPr sz="105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GET coreupdater.exe — frames 339455 / 339465 / 238574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29584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22D3EE"/>
                </a:solidFill>
                <a:latin typeface="Arial"/>
                <a:cs typeface="Arial"/>
                <a:ea typeface="Arial"/>
              </a:rPr>
              <a:t>خريطة البنية التحتية للمهاجم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877056"/>
            <a:ext cx="11055096" cy="420624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94592" y="3877056"/>
            <a:ext cx="32004" cy="42062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3977640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194.61.24.102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986784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خادم التجهيز + مصدر الهجوم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986784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TCP 80 / 3389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52544"/>
            <a:ext cx="11055096" cy="420624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94592" y="4352544"/>
            <a:ext cx="32004" cy="42062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4453128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ar-SA">
                <a:solidFill>
                  <a:srgbClr val="A78BFA"/>
                </a:solidFill>
                <a:latin typeface="Consolas"/>
                <a:cs typeface="Consolas"/>
                <a:ea typeface="Consolas"/>
              </a:rPr>
              <a:t>203.78.103.109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462272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خادم القيادة والتحكم (C2)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462272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TCP 443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828031"/>
            <a:ext cx="11055096" cy="420624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594592" y="4828031"/>
            <a:ext cx="32004" cy="42062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928616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ar-SA">
                <a:solidFill>
                  <a:srgbClr val="FBBF24"/>
                </a:solidFill>
                <a:latin typeface="Consolas"/>
                <a:cs typeface="Consolas"/>
                <a:ea typeface="Consolas"/>
              </a:rPr>
              <a:t>10.42.85.10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937759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الضحية — خادم النطاق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RDP داخلي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303519"/>
            <a:ext cx="11055096" cy="420624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94592" y="5303519"/>
            <a:ext cx="32004" cy="42062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5404103"/>
            <a:ext cx="178308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ar-SA">
                <a:solidFill>
                  <a:srgbClr val="FBBF24"/>
                </a:solidFill>
                <a:latin typeface="Consolas"/>
                <a:cs typeface="Consolas"/>
                <a:ea typeface="Consolas"/>
              </a:rPr>
              <a:t>10.42.85.115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413247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الضحية — محطة العمل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413247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RDP داخلي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870448"/>
            <a:ext cx="11055096" cy="365760"/>
          </a:xfrm>
          <a:prstGeom prst="rect">
            <a:avLst/>
          </a:prstGeom>
          <a:solidFill>
            <a:srgbClr val="2A1E1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5943600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ar-SA">
                <a:solidFill>
                  <a:srgbClr val="FBBF24"/>
                </a:solidFill>
                <a:latin typeface="Arial"/>
                <a:cs typeface="Arial"/>
                <a:ea typeface="Arial"/>
              </a:rPr>
              <a:t>ملاحظة: </a:t>
            </a:r>
            <a:r>
              <a:rPr sz="11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حركة C2 على 443 تبدأ بالبايتات 43 12 03 00 — ليست TLS ClientHello، أي بروتوكول مخصص متنكّر على منفذ شائع.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327648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المصدر: </a:t>
            </a: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http.request.uri contains "coreupdater.exe"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6419088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CITADEL · IR-2024-001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50292" cy="6583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EXFILTRATION &amp; MALWARE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المرحلة 5–6: التسريب وتحليل الملف الخبيث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06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5486400" cy="4700016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548640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09344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FBBF24"/>
                </a:solidFill>
                <a:latin typeface="Arial"/>
                <a:cs typeface="Arial"/>
                <a:ea typeface="Arial"/>
              </a:rPr>
              <a:t>تسريب البيانات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5047488" cy="19202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القناة: </a:t>
            </a:r>
            <a:r>
              <a:rPr sz="1250" b="1" i="0" lang="ar-SA">
                <a:solidFill>
                  <a:srgbClr val="FBBF24"/>
                </a:solidFill>
                <a:latin typeface="Consolas"/>
                <a:cs typeface="Consolas"/>
                <a:ea typeface="Consolas"/>
              </a:rPr>
              <a:t>tcp.stream 30442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الحجم: </a:t>
            </a:r>
            <a:r>
              <a:rPr sz="1250" b="1" i="0" lang="ar-SA">
                <a:solidFill>
                  <a:srgbClr val="FBBF24"/>
                </a:solidFill>
                <a:latin typeface="Consolas"/>
                <a:cs typeface="Consolas"/>
                <a:ea typeface="Consolas"/>
              </a:rPr>
              <a:t>~10 MB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الحزم: </a:t>
            </a:r>
            <a:r>
              <a:rPr sz="1250" b="1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71,289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النافذة: </a:t>
            </a:r>
            <a:r>
              <a:rPr sz="1250" b="1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05:22:36 – 05:52:47 (+03)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الوجهة: </a:t>
            </a:r>
            <a:r>
              <a:rPr sz="125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194.61.24.102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3703320"/>
            <a:ext cx="5047488" cy="822960"/>
          </a:xfrm>
          <a:prstGeom prst="rect">
            <a:avLst/>
          </a:prstGeom>
          <a:solidFill>
            <a:srgbClr val="2A1E1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4791456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lang="ar-SA">
                <a:solidFill>
                  <a:srgbClr val="FBBF24"/>
                </a:solidFill>
                <a:latin typeface="Arial"/>
                <a:cs typeface="Arial"/>
                <a:ea typeface="Arial"/>
              </a:rPr>
              <a:t>حدود الاستنتاج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التشفير يمنع تحديد أسماء الملفات المُسرَبة أو محتواها. الاحتمال الأقوى: بيانات ملفات مُعادة التوجيه عبر النفق.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681728"/>
            <a:ext cx="5047488" cy="12801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التصنيف: T1041 — Exfiltration Over C2 Channel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التصنيف: T1021.001 — Remote Desktop Protocol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1463040"/>
            <a:ext cx="5486400" cy="4700016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35624" y="1463040"/>
            <a:ext cx="548640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609344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تحليل ثابت للملف — coreupdater.exe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38528"/>
            <a:ext cx="5047488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SHA-256:  </a:t>
            </a:r>
            <a:r>
              <a:rPr sz="9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10f3b92002bb98467334161cf85d0b1730851f9256f83c27db125e9a0c1cfda6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MD5:  </a:t>
            </a:r>
            <a:r>
              <a:rPr sz="9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eed41b4500e473f97c50c7385ef5e374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الحجم 7,168 بايت · AMD64 · GUI · Visual Studio 2005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3017520"/>
            <a:ext cx="5486400" cy="603504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85448" y="3017520"/>
            <a:ext cx="36576" cy="6035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099815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الطابع الزمني للتجميع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99815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Wed Apr 14 22:06:53 2010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46703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T1070.006 — Timestomp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35624" y="3675887"/>
            <a:ext cx="5486400" cy="603504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85448" y="3675887"/>
            <a:ext cx="36576" cy="6035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758183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Entropy للملف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58183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ar-SA">
                <a:solidFill>
                  <a:srgbClr val="FBBF24"/>
                </a:solidFill>
                <a:latin typeface="Consolas"/>
                <a:cs typeface="Consolas"/>
                <a:ea typeface="Consolas"/>
              </a:rPr>
              <a:t>1.502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005072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مضغوط / مشفّر (T1027)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35624" y="4334255"/>
            <a:ext cx="5486400" cy="603504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585448" y="4334255"/>
            <a:ext cx="36576" cy="603504"/>
          </a:xfrm>
          <a:prstGeom prst="rect">
            <a:avLst/>
          </a:prstGeom>
          <a:solidFill>
            <a:srgbClr val="93A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416551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ImageBase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416551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0x140000000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63440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أساس صورة 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35624" y="4992623"/>
            <a:ext cx="5486400" cy="603504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85448" y="4992623"/>
            <a:ext cx="36576" cy="6035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5074919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الأقسام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074919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ar-SA">
                <a:solidFill>
                  <a:srgbClr val="A78BFA"/>
                </a:solidFill>
                <a:latin typeface="Consolas"/>
                <a:cs typeface="Consolas"/>
                <a:ea typeface="Consolas"/>
              </a:rPr>
              <a:t>.text · .rdata · .lhru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321807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.lhru غير قياسي — 0xE0000060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35624" y="5650991"/>
            <a:ext cx="5486400" cy="603504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585448" y="5650991"/>
            <a:ext cx="36576" cy="6035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5733287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الاستيرادات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733287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VirtualAlloc · ExitProcess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980175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جدول أدنى — T1055 Process Injection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6327648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المصدر: </a:t>
            </a: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e30_pe_parse.json · capa/PE static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6419088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CITADEL · IR-2024-001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50292" cy="6583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FINDINGS · IOCs · MITRE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المؤشرات والتوصيات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07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44752"/>
            <a:ext cx="5486400" cy="3017520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44752"/>
            <a:ext cx="548640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91056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F87171"/>
                </a:solidFill>
                <a:latin typeface="Arial"/>
                <a:cs typeface="Arial"/>
                <a:ea typeface="Arial"/>
              </a:rPr>
              <a:t>مؤشرات الاختراق (IOCs)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20240"/>
            <a:ext cx="5047488" cy="24688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عنوان مؤشر الاختراق: </a:t>
            </a:r>
            <a:r>
              <a:rPr sz="11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194.61.24.102</a:t>
            </a:r>
            <a:r>
              <a:rPr sz="11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  ·  203.78.103.109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SHA-256: </a:t>
            </a:r>
            <a:r>
              <a:rPr sz="11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10f3b920…1cfda6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MD5: </a:t>
            </a:r>
            <a:r>
              <a:rPr sz="11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eed41b45…5e374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JA3: </a:t>
            </a:r>
            <a:r>
              <a:rPr sz="11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75fe5199…aa29ae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0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اسم الملف: </a:t>
            </a:r>
            <a:r>
              <a:rPr sz="11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coreupdater.exe</a:t>
            </a:r>
            <a:r>
              <a:rPr sz="1000" b="1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  · Cookie: </a:t>
            </a:r>
            <a:r>
              <a:rPr sz="1100" b="0" i="0" lang="ar-SA">
                <a:solidFill>
                  <a:srgbClr val="E9EFF8"/>
                </a:solidFill>
                <a:latin typeface="Consolas"/>
                <a:cs typeface="Consolas"/>
                <a:ea typeface="Consolas"/>
              </a:rPr>
              <a:t>mstshash=Administrator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ar-SA">
                <a:solidFill>
                  <a:srgbClr val="FBBF24"/>
                </a:solidFill>
                <a:latin typeface="Arial"/>
                <a:cs typeface="Arial"/>
                <a:ea typeface="Arial"/>
              </a:rPr>
              <a:t>قاعدة الرصد: أي طلب HTTP باسم coreupdater.exe أو استجابة شبيهة بـ JSESSIONID تستوجب حجباً فورياً وعزل الجهاز.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1444752"/>
            <a:ext cx="5486400" cy="3017520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5624" y="1444752"/>
            <a:ext cx="548640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591056"/>
            <a:ext cx="5084064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A78BFA"/>
                </a:solidFill>
                <a:latin typeface="Arial"/>
                <a:cs typeface="Arial"/>
                <a:ea typeface="Arial"/>
              </a:rPr>
              <a:t>مطابقة MITRE ATT&amp;CK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5047488" cy="24688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T1498.001  </a:t>
            </a: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Direct Network Flood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lang="ar-SA">
                <a:solidFill>
                  <a:srgbClr val="FBBF24"/>
                </a:solidFill>
                <a:latin typeface="Consolas"/>
                <a:cs typeface="Consolas"/>
                <a:ea typeface="Consolas"/>
              </a:rPr>
              <a:t>T1110.001  </a:t>
            </a: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Password Guessing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lang="ar-SA">
                <a:solidFill>
                  <a:srgbClr val="22D3EE"/>
                </a:solidFill>
                <a:latin typeface="Consolas"/>
                <a:cs typeface="Consolas"/>
                <a:ea typeface="Consolas"/>
              </a:rPr>
              <a:t>T1021.001  </a:t>
            </a: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Remote Desktop Protocol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lang="ar-SA">
                <a:solidFill>
                  <a:srgbClr val="A78BFA"/>
                </a:solidFill>
                <a:latin typeface="Consolas"/>
                <a:cs typeface="Consolas"/>
                <a:ea typeface="Consolas"/>
              </a:rPr>
              <a:t>T1105  </a:t>
            </a: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Ingress Tool Transfer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lang="ar-SA">
                <a:solidFill>
                  <a:srgbClr val="FBBF24"/>
                </a:solidFill>
                <a:latin typeface="Consolas"/>
                <a:cs typeface="Consolas"/>
                <a:ea typeface="Consolas"/>
              </a:rPr>
              <a:t>T1041  </a:t>
            </a: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Exfiltration Over C2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T1070.006  </a:t>
            </a: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Timestomp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lang="ar-SA">
                <a:solidFill>
                  <a:srgbClr val="F87171"/>
                </a:solidFill>
                <a:latin typeface="Consolas"/>
                <a:cs typeface="Consolas"/>
                <a:ea typeface="Consolas"/>
              </a:rPr>
              <a:t>T1055  </a:t>
            </a: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Process Injection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 lang="ar-SA">
                <a:solidFill>
                  <a:srgbClr val="FBBF24"/>
                </a:solidFill>
                <a:latin typeface="Consolas"/>
                <a:cs typeface="Consolas"/>
                <a:ea typeface="Consolas"/>
              </a:rPr>
              <a:t>T1027  </a:t>
            </a:r>
            <a:r>
              <a:rPr sz="115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Obfuscated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572000"/>
            <a:ext cx="11055096" cy="1591056"/>
          </a:xfrm>
          <a:prstGeom prst="rect">
            <a:avLst/>
          </a:prstGeom>
          <a:solidFill>
            <a:srgbClr val="1B2C44"/>
          </a:solidFill>
          <a:ln w="9525">
            <a:solidFill>
              <a:srgbClr val="2E4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572000"/>
            <a:ext cx="11055096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718304"/>
            <a:ext cx="106527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ar-SA">
                <a:solidFill>
                  <a:srgbClr val="34D399"/>
                </a:solidFill>
                <a:latin typeface="Arial"/>
                <a:cs typeface="Arial"/>
                <a:ea typeface="Arial"/>
              </a:rPr>
              <a:t>التوصيات ذات الأولوية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047488"/>
            <a:ext cx="1060704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1)  حجب 194.61.24.102 و 203.78.103.109 على البوابة والـ EDR، وإعادة التحقق من egress على 80/443.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2)  إلغاء RDP المباشر أو فرض NLA + MFA + Network Level Authentication وسياسات Allow-list للمصدر.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3)  إعادة تعيين كل الحسابات المتأثرة (Administrator 포함)، وتفعيل قفل الحساب بعد عدد محدود من المحاولات.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4)  رقمنة سجلات Windows Event (4624/4625/7045) إلى SIEM، ومراجعة مجلد Downloads على الأجهزة المتأثرة.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lang="ar-SA">
                <a:solidFill>
                  <a:srgbClr val="E9EFF8"/>
                </a:solidFill>
                <a:latin typeface="Arial"/>
                <a:cs typeface="Arial"/>
                <a:ea typeface="Arial"/>
              </a:rPr>
              <a:t>5)  مراجعة قواعد كشف جدار الحماية: فيض SYN مع 14,116 منفذ مصدر مختلف وغياب مصافحة كاملة = مؤشر فيض متعمَّد.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27648"/>
            <a:ext cx="11055096" cy="10972"/>
          </a:xfrm>
          <a:prstGeom prst="rect">
            <a:avLst/>
          </a:prstGeom>
          <a:solidFill>
            <a:srgbClr val="2E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ar-SA">
                <a:solidFill>
                  <a:srgbClr val="93A4BC"/>
                </a:solidFill>
                <a:latin typeface="Arial"/>
                <a:cs typeface="Arial"/>
                <a:ea typeface="Arial"/>
              </a:rPr>
              <a:t>CONFIDENTIAL — للاستخدام الداخلي فقط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419088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 lang="ar-SA">
                <a:solidFill>
                  <a:srgbClr val="93A4BC"/>
                </a:solidFill>
                <a:latin typeface="Consolas"/>
                <a:cs typeface="Consolas"/>
                <a:ea typeface="Consolas"/>
              </a:rPr>
              <a:t>CITADEL · IR-2024-001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